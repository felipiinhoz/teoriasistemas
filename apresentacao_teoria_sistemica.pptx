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[ROTEIRO DE FALA - SLIDE 1: CAPA]</a:t>
            </a:r>
          </a:p>
          <a:p>
            <a:r>
              <a:t>- Bom dia/boa tarde a todos. Hoje vamos explorar um dos marcos mais revolucionários da gestão moderna: a Teoria Sistêmica na Administração.</a:t>
            </a:r>
          </a:p>
          <a:p>
            <a:r>
              <a:t>- Durante décadas, a administração tradicional tratou as empresas como máquinas e engrenagens isoladas. Cada departamento cuidava apenas do seu quadrado.</a:t>
            </a:r>
          </a:p>
          <a:p>
            <a:r>
              <a:t>- A Teoria Sistêmica rompe com esse reducionismo: ela nos ensina a olhar para as empresas não como fábricas mecânicas fechadas, mas como organismos vivos, dinâmicos e abertos em constante troca com a sociedade, clientes e mercado.</a:t>
            </a:r>
          </a:p>
          <a:p>
            <a:r>
              <a:t>- Ao longo desta apresentação, veremos os fundamentos, os principais teóricos, as propriedades operacionais e, principalmente, como essa visão se converte em vantagem competitiva real no processo de tomada de decisão.</a:t>
            </a:r>
          </a:p>
          <a:p>
            <a:r>
              <a:t>Tempo estimado: 1 a 2 minutos.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[ROTEIRO DE FALA - SLIDE 2: INTEGRANTES DA EQUIPE]</a:t>
            </a:r>
          </a:p>
          <a:p>
            <a:r>
              <a:t>- Apresentação dos integrantes do grupo de trabalho:</a:t>
            </a:r>
          </a:p>
          <a:p>
            <a:r>
              <a:t>  Cauê Oliveira Viana, Claudio Ávila Rosa Filho, Enzo Cardoso Ribeiro, Gustavo Moreira dos Santos, Iago Campos de Melo, João Felipe Santos Matos, João Gabryell Lopes Santana, Kaike Santos dos Santos e Tharcizio Rubens Santos Mota.</a:t>
            </a:r>
          </a:p>
          <a:p>
            <a:r>
              <a:t>- Agradecemos ao professor e aos colegas pela presença e daremos início à exposição teórica.</a:t>
            </a:r>
          </a:p>
          <a:p>
            <a:r>
              <a:t>Tempo estimado: 30 segundos a 1 minuto.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[ROTEIRO DE FALA - SLIDE 2: POR QUE ESTUDAR A TEORIA SISTÊMICA?]</a:t>
            </a:r>
          </a:p>
          <a:p>
            <a:r>
              <a:t>- Três grandes competências justificam o domínio deste tema:</a:t>
            </a:r>
          </a:p>
          <a:p>
            <a:r>
              <a:t>1. Visão Holística: 'Holos' vem do grego e significa 'todo'. Um gestor sistêmico não olha apenas para a sua mesa ou para a sua meta individual; ele enxerga a cadeia de ponta a ponta.</a:t>
            </a:r>
          </a:p>
          <a:p>
            <a:r>
              <a:t>2. Interdependência: Em uma organização, nada acontece no vácuo. Se o marketing cria uma promoção agressiva sem alinhar com operações e estoque, a empresa gera frustração no cliente e gargalos logísticos. Decisões eficazes mapeiam esses elos.</a:t>
            </a:r>
          </a:p>
          <a:p>
            <a:r>
              <a:t>3. Adaptabilidade: Vivemos na era da volatilidade. Empresas que se fecham em velhos manuais perecem; sistemas que escutam o ambiente e aprendem continuam evoluindo.</a:t>
            </a:r>
          </a:p>
          <a:p>
            <a:r>
              <a:t>Tempo estimado: 1 minuto e meio.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[ROTEIRO DE FALA - SLIDE 3: VISÃO MECANICISTA VS. VISÃO INTEGRADA]</a:t>
            </a:r>
          </a:p>
          <a:p>
            <a:r>
              <a:t>- Façamos este contraste fundamental:</a:t>
            </a:r>
          </a:p>
          <a:p>
            <a:r>
              <a:t>- À esquerda, temos a Administração Científica e Clássica (Taylor e Fayol). Para eles, a empresa era como uma máquina de relógio: peças intercambiáveis, regras rígidas e foco exclusivo para dentro da fábrica (sistema fechado).</a:t>
            </a:r>
          </a:p>
          <a:p>
            <a:r>
              <a:t>- À direita, a Abordagem Sistêmica: percebeu-se que uma empresa não sobrevive isolada. Ela consome recursos do ambiente externo e precisa entregar valor para esse mesmo ambiente.</a:t>
            </a:r>
          </a:p>
          <a:p>
            <a:r>
              <a:t>- Mais importante: na visão mecanicista, se cada setor bater sua meta, teoricamente tudo dá certo. Na visão sistêmica, descobrimos que metas locais conflitantes destroem o objetivo global. A integração é soberana!</a:t>
            </a:r>
          </a:p>
          <a:p>
            <a:r>
              <a:t>Tempo estimado: 2 minutos.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[ROTEIRO DE FALA - SLIDE 4: FLUXO FUNDAMENTAL DE UM SISTEMA]</a:t>
            </a:r>
          </a:p>
          <a:p>
            <a:r>
              <a:t>- Todo sistema dinâmico opera através deste circuito vital contínuo:</a:t>
            </a:r>
          </a:p>
          <a:p>
            <a:r>
              <a:t>1. Entradas (Inputs): Insumos, matérias-primas, talentos, capitais e, cada vez mais, dados e informações.</a:t>
            </a:r>
          </a:p>
          <a:p>
            <a:r>
              <a:t>2. Processamento (Throughput): A capacidade da organização de transformar esses recursos com inteligência, agilidade e eficiência.</a:t>
            </a:r>
          </a:p>
          <a:p>
            <a:r>
              <a:t>3. Saídas (Outputs): O que devolvemos ao ecossistema: produtos de qualidade, serviços de valor, lucros e reputação.</a:t>
            </a:r>
          </a:p>
          <a:p>
            <a:r>
              <a:t>4. Feedback (Retroalimentação - destacado à direita): Este é o coração da sobrevivência. O feedback nos diz se as saídas atenderam às expectativas. Sem feedback, um sistema fica cego e caminha para a falência.</a:t>
            </a:r>
          </a:p>
          <a:p>
            <a:r>
              <a:t>Tempo estimado: 1 minuto e meio.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[ROTEIRO DE FALA - SLIDE 5: HIERARQUIZAÇÃO DE SISTEMAS]</a:t>
            </a:r>
          </a:p>
          <a:p>
            <a:r>
              <a:t>- O pensamento sistêmico nos ensina que a fronteira de um sistema depende do ponto de vista do observador (efeito matriosca ou bonecas russas):</a:t>
            </a:r>
          </a:p>
          <a:p>
            <a:r>
              <a:t>- No Nível Macro (Supersistema): Temos o ecossistema econômico, as leis, a concorrência global e a cultura social. Nenhuma empresa controla o supersistema sozinha, mas todas são impactadas por ele.</a:t>
            </a:r>
          </a:p>
          <a:p>
            <a:r>
              <a:t>- No Nível Mapeado (Sistema): É a empresa como um todo. É o foco da estratégia executiva.</a:t>
            </a:r>
          </a:p>
          <a:p>
            <a:r>
              <a:t>- No Nível Micro (Subsistemas): São o marketing, finanças, compras, RH, TI. Para o diretor de TI, o departamento de TI é o seu sistema; mas para a presidência, ele é apenas um subsistema a serviço do todo.</a:t>
            </a:r>
          </a:p>
          <a:p>
            <a:r>
              <a:t>- O segredo da governança sistêmica é garantir que o subsistema não tente se comportar como se fosse maior que o sistema focal.</a:t>
            </a:r>
          </a:p>
          <a:p>
            <a:r>
              <a:t>Tempo estimado: 1 minuto e meio.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[ROTEIRO DE FALA - SLIDE 6: CONCEITOS SISTÊMICOS FUNDAMENTAIS]</a:t>
            </a:r>
          </a:p>
          <a:p>
            <a:r>
              <a:t>- Estes quatro termos são clássicos em provas, bancas e na literatura gerencial:</a:t>
            </a:r>
          </a:p>
          <a:p>
            <a:r>
              <a:t>1. Sinergia: Quando dois times trabalham juntos de forma alinhada, o valor criado supera muito a soma dos dois trabalhando isolados.</a:t>
            </a:r>
          </a:p>
          <a:p>
            <a:r>
              <a:t>2. Homeostase: Termo emprestado da biologia. Assim como o corpo humano regula a temperatura a 36,5°C faça frio ou calor, a empresa usa estoques de segurança, caixas de reserva e ajustes de preços para manter seu equilíbrio financeiro e produtivo.</a:t>
            </a:r>
          </a:p>
          <a:p>
            <a:r>
              <a:t>3. Entropia Negativa (ou Negentropia): Pela física, tudo tende à desordem e ao colapso se for abandonado. As empresas combatem isso importando nova energia: contratando novos talentos, adotando novas tecnologias e oxigenando seus processos.</a:t>
            </a:r>
          </a:p>
          <a:p>
            <a:r>
              <a:t>4. Equifinalidade: Não existe uma única 'receita de bolo' para lucrar ou vencer no mercado. Uma empresa pode crescer via inovação tecnológica de ponta, enquanto outra alcança o mesmo sucesso via excelência em atendimento ao cliente ou baixo custo.</a:t>
            </a:r>
          </a:p>
          <a:p>
            <a:r>
              <a:t>Tempo estimado: 2 minutos.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[ROTEIRO DE FALA - SLIDE 7: ORGANIZAÇÕES COMO SISTEMAS ABERTOS]</a:t>
            </a:r>
          </a:p>
          <a:p>
            <a:r>
              <a:t>- O que torna uma empresa um sistema aberto?</a:t>
            </a:r>
          </a:p>
          <a:p>
            <a:r>
              <a:t>1. Fronteiras Permeáveis: Uma empresa não pode ser uma caixa-preta fechada. Ela compra do fornecedor, atende ao cliente, negocia com bancos e cumpre normas ambientais.</a:t>
            </a:r>
          </a:p>
          <a:p>
            <a:r>
              <a:t>2. Dinamismo Constante: As condições nunca são estáticas. O mercado muda, os juros oscilam, novas IAs surgem. Manter o equilíbrio exige movimento contínuo (equilíbrio dinâmico).</a:t>
            </a:r>
          </a:p>
          <a:p>
            <a:r>
              <a:t>3. Ciclos de Eventos: As trocas têm natureza cíclica. O produto sai -&gt; o dinheiro entra -&gt; novos insumos são comprados -&gt; novos salários são pagos. Se o ciclo se rompe em qualquer nó dessa rede (como mostra a figura ao lado), o sistema inteiro entra em pane.</a:t>
            </a:r>
          </a:p>
          <a:p>
            <a:r>
              <a:t>Tempo estimado: 1 minuto e meio.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[ROTEIRO DE FALA - SLIDE 8: PRINCIPAIS TEÓRICOS]</a:t>
            </a:r>
          </a:p>
          <a:p>
            <a:r>
              <a:t>- É fundamental saber quem foram os pioneiros desta revolução:</a:t>
            </a:r>
          </a:p>
          <a:p>
            <a:r>
              <a:t>1. Ludwig von Bertalanffy: Um biólogo que percebeu que a física clássica não conseguia explicar a vida porque tratava tudo como sistemas fechados. Em 1950, publicou as bases da TGS, provando que um organismo ou uma organização precisam de trocas ambientais para se manterem vivos.</a:t>
            </a:r>
          </a:p>
          <a:p>
            <a:r>
              <a:t>2. C. West Churchman: Trouxe a TGS para o mundo dos negócios através da obra seminal 'The Systems Approach' (1968). Ensinou gestores a pensar em tradeoffs, objetivos globais e gestão de complexidade.</a:t>
            </a:r>
          </a:p>
          <a:p>
            <a:r>
              <a:t>3. Chester Barnard: Já em 1938, na obra clássica 'As Funções do Executivo', antecipou que empresas são sistemas cooperativos sociais. Sem a disposição das pessoas em colaborar em prol de um propósito comum, a estrutura desmorona.</a:t>
            </a:r>
          </a:p>
          <a:p>
            <a:r>
              <a:t>Tempo estimado: 2 minutos.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[ROTEIRO DE FALA - SLIDE 9: SISTEMAS ABERTOS VS. FECHADOS]</a:t>
            </a:r>
          </a:p>
          <a:p>
            <a:r>
              <a:t>- Esta é uma das distinções centrais da disciplina:</a:t>
            </a:r>
          </a:p>
          <a:p>
            <a:r>
              <a:t>- No mundo físico inanimado, muitos sistemas são fechados: um relógio de corda funciona de forma determinística, sem trocar com o exterior. Se quebrar uma engrenagem, ele para.</a:t>
            </a:r>
          </a:p>
          <a:p>
            <a:r>
              <a:t>- Organizações humanas NUNCA são sistemas fechados. Quando uma empresa age como se fosse um sistema fechado (ignorando reclamações de clientes, tendências tecnológicas ou concorrentes), ela é punida pela entropia: definha e quebra.</a:t>
            </a:r>
          </a:p>
          <a:p>
            <a:r>
              <a:t>- As empresas mais bem-sucedidas do século XXI são sistemas abertos por excelência: capturam tendências no ar e ajustam sua proposta de valor em tempo real.</a:t>
            </a:r>
          </a:p>
          <a:p>
            <a:r>
              <a:t>Tempo estimado: 1 minuto e meio.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[ROTEIRO DE FALA - SLIDE 10: ABORDAGEM SOCIOTÉCNICA]</a:t>
            </a:r>
          </a:p>
          <a:p>
            <a:r>
              <a:t>- Desenvolvida pelo Tavistock Institute de Londres (com Eric Trist e Fred Emery), a Abordagem Sociotécnica nasceu de um insight prático:</a:t>
            </a:r>
          </a:p>
          <a:p>
            <a:r>
              <a:t>- Muitas empresas compram os computadores mais caros, instalam robôs modernos ou implementam novas IAs, mas a produtividade desaba. Por quê?</a:t>
            </a:r>
          </a:p>
          <a:p>
            <a:r>
              <a:t>- Porque a organização é composta por DOIS subsistemas interligados:</a:t>
            </a:r>
          </a:p>
          <a:p>
            <a:r>
              <a:t>  1. O Técnico: Máquinas, fluxos, algoritmos, métodos de trabalho.</a:t>
            </a:r>
          </a:p>
          <a:p>
            <a:r>
              <a:t>  2. O Social: Pessoas, liderança, confiança, cultura e motivação.</a:t>
            </a:r>
          </a:p>
          <a:p>
            <a:r>
              <a:t>- Não existe tecnologia que compense uma equipe desmotivada ou uma liderança tóxica. O segredo da alta performance é a 'otimização conjunta': a tecnologia deve capacitar e empoderar o ser humano, e as pessoas devem estar preparadas para extrair o melhor das máquinas.</a:t>
            </a:r>
          </a:p>
          <a:p>
            <a:r>
              <a:t>Tempo estimado: 2 minutos.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[ROTEIRO DE FALA - SLIDE 11: PROCESSO DECISÓRIO SISTÊMICO]</a:t>
            </a:r>
          </a:p>
          <a:p>
            <a:r>
              <a:t>- Como transformar a teoria em prática diária de gestão?</a:t>
            </a:r>
          </a:p>
          <a:p>
            <a:r>
              <a:t>- Três práticas indispensáveis:</a:t>
            </a:r>
          </a:p>
          <a:p>
            <a:r>
              <a:t>1. Mapeamento prévio de impactos: Antes de cortar custos ou alterar um software, o líder sistêmico pergunta: 'Quem será afetado? O atendimento ao cliente vai sofrer? O pós-venda vai travar?'. Evita-se o clássico 'remédio que mata o paciente'.</a:t>
            </a:r>
          </a:p>
          <a:p>
            <a:r>
              <a:t>2. Eliminação de silos: As reuniões não podem ser apenas de diretoria fechada. Criam-se equipes multidisciplinares e rituais de alinhamento entre áreas distintas.</a:t>
            </a:r>
          </a:p>
          <a:p>
            <a:r>
              <a:t>3. Alinhamento dinâmico: Metas internas precisam conversar com a realidade externa. Não adianta bater a meta de produzir 1 milhão de itens se o mercado mudou e não quer mais aquele modelo.</a:t>
            </a:r>
          </a:p>
          <a:p>
            <a:r>
              <a:t>Tempo estimado: 1 minuto e meio.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[ROTEIRO DE FALA - SLIDE 12: CONCLUSÃO E SÍNTESE]</a:t>
            </a:r>
          </a:p>
          <a:p>
            <a:r>
              <a:t>- Chegamos à conclusão da nossa apresentação com esta reflexão fundamental:</a:t>
            </a:r>
          </a:p>
          <a:p>
            <a:r>
              <a:t>- 'A organização não é uma soma de partes isoladas, mas uma rede viva de interações contínuas.'</a:t>
            </a:r>
          </a:p>
          <a:p>
            <a:r>
              <a:t>- Para quem administra, lidera ou empreende no século XXI, a Teoria Sistêmica não é apenas uma teoria de livro: é uma lente de navegação para a sobrevivência e para a alta performance.</a:t>
            </a:r>
          </a:p>
          <a:p>
            <a:r>
              <a:t>- Líderes que pensam de forma sistêmica constroem organizações mais resilientes, empresas mais inovadoras e ambientes de trabalho mais cooperativos e humanos.</a:t>
            </a:r>
          </a:p>
          <a:p>
            <a:r>
              <a:t>- Muito obrigado pela atenção de todos! Estou à disposição para dúvidas, comentários e debate.</a:t>
            </a:r>
          </a:p>
          <a:p>
            <a:r>
              <a:t>Tempo estimado: 1 a 2 minutos.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[ROTEIRO DE FALA - SLIDE 13: FONTES E REFERÊNCIAS]</a:t>
            </a:r>
          </a:p>
          <a:p>
            <a:r>
              <a:t>- Para aprofundamento, recomendamos as obras fundamentais de Bertalanffy, Churchman e Barnard, além das aplicações contemporâneas do MIT Sloan e estudos em sistemas sociotécnicos.</a:t>
            </a:r>
          </a:p>
          <a:p>
            <a:r>
              <a:t>- Os links e fontes visuais das ilustrações estão devidamente creditados e catalogados para consulta acadêmica.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0" y="2011680"/>
            <a:ext cx="91440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Segoe UI"/>
              </a:defRPr>
            </a:pPr>
            <a:r>
              <a:t>ADMINISTRAÇÃO GERAL  •  ESTRUTURA ACADÊMICA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FFFFFF"/>
                </a:solidFill>
                <a:latin typeface="Segoe UI"/>
              </a:defRPr>
            </a:pPr>
            <a:r>
              <a:t>Teoria Sistêmica na</a:t>
            </a:r>
            <a:br/>
            <a:r>
              <a:t>Administração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29768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BD5E1"/>
                </a:solidFill>
                <a:latin typeface="Segoe UI"/>
              </a:defRPr>
            </a:pPr>
            <a:r>
              <a:t>Da visão fragmentada ao pensamento integrado: compreendendo as organizações como sistemas vivos e abertos.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5577840"/>
            <a:ext cx="1371600" cy="3657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  <a:latin typeface="Segoe UI"/>
              </a:defRPr>
            </a:pPr>
            <a:r>
              <a:t>ADMINISTRAÇÃO GERAL  •  ESTRUTURA ACADÊMICA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Integrantes da Equipe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336499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" y="1965960"/>
            <a:ext cx="685800" cy="685800"/>
          </a:xfrm>
          <a:prstGeom prst="ellipse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F766E"/>
                </a:solidFill>
                <a:latin typeface="Segoe UI"/>
              </a:defRPr>
            </a:pPr>
            <a:r>
              <a:t>CV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874520"/>
            <a:ext cx="217627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Cauê Oliveira Viana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83080" y="2350008"/>
            <a:ext cx="2011680" cy="292608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369A1"/>
                </a:solidFill>
                <a:latin typeface="Segoe UI"/>
              </a:defRPr>
            </a:pPr>
            <a:r>
              <a:t>Matrícula: 202310921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6552" y="1691640"/>
            <a:ext cx="336499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45152" y="1965960"/>
            <a:ext cx="685800" cy="685800"/>
          </a:xfrm>
          <a:prstGeom prst="ellipse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F766E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68112" y="1874520"/>
            <a:ext cx="217627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Claudio Ávila Rosa Filho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68112" y="2350008"/>
            <a:ext cx="2011680" cy="292608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369A1"/>
                </a:solidFill>
                <a:latin typeface="Segoe UI"/>
              </a:defRPr>
            </a:pPr>
            <a:r>
              <a:t>Matrícula: 202310661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1584" y="1691640"/>
            <a:ext cx="336499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330184" y="1965960"/>
            <a:ext cx="685800" cy="685800"/>
          </a:xfrm>
          <a:prstGeom prst="ellipse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F766E"/>
                </a:solidFill>
                <a:latin typeface="Segoe UI"/>
              </a:defRPr>
            </a:pPr>
            <a:r>
              <a:t>EC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53144" y="1874520"/>
            <a:ext cx="217627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Enzo Cardoso Ribeiro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53144" y="2350008"/>
            <a:ext cx="2011680" cy="292608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369A1"/>
                </a:solidFill>
                <a:latin typeface="Segoe UI"/>
              </a:defRPr>
            </a:pPr>
            <a:r>
              <a:t>Matrícula: 202211355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154680"/>
            <a:ext cx="336499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60120" y="3429000"/>
            <a:ext cx="685800" cy="685800"/>
          </a:xfrm>
          <a:prstGeom prst="ellipse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F766E"/>
                </a:solidFill>
                <a:latin typeface="Segoe UI"/>
              </a:defRPr>
            </a:pPr>
            <a:r>
              <a:t>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3337560"/>
            <a:ext cx="217627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Gustavo Moreira dos Santos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83080" y="3813048"/>
            <a:ext cx="2011680" cy="292608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369A1"/>
                </a:solidFill>
                <a:latin typeface="Segoe UI"/>
              </a:defRPr>
            </a:pPr>
            <a:r>
              <a:t>Matrícula: 202310663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3154680"/>
            <a:ext cx="336499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645152" y="3429000"/>
            <a:ext cx="685800" cy="685800"/>
          </a:xfrm>
          <a:prstGeom prst="ellipse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F766E"/>
                </a:solidFill>
                <a:latin typeface="Segoe UI"/>
              </a:defRPr>
            </a:pPr>
            <a:r>
              <a:t>IM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68112" y="3337560"/>
            <a:ext cx="217627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Iago Campos de Melo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68112" y="3813048"/>
            <a:ext cx="2011680" cy="292608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369A1"/>
                </a:solidFill>
                <a:latin typeface="Segoe UI"/>
              </a:defRPr>
            </a:pPr>
            <a:r>
              <a:t>Matrícula: 202311585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1584" y="3154680"/>
            <a:ext cx="336499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30184" y="3429000"/>
            <a:ext cx="685800" cy="685800"/>
          </a:xfrm>
          <a:prstGeom prst="ellipse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F766E"/>
                </a:solidFill>
                <a:latin typeface="Segoe UI"/>
              </a:defRPr>
            </a:pPr>
            <a:r>
              <a:t>JF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3337560"/>
            <a:ext cx="217627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João Felipe Santos Matos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53144" y="3813048"/>
            <a:ext cx="2011680" cy="292608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369A1"/>
                </a:solidFill>
                <a:latin typeface="Segoe UI"/>
              </a:defRPr>
            </a:pPr>
            <a:r>
              <a:t>Matrícula: 202310926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4617720"/>
            <a:ext cx="336499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60120" y="4892040"/>
            <a:ext cx="685800" cy="685800"/>
          </a:xfrm>
          <a:prstGeom prst="ellipse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F766E"/>
                </a:solidFill>
                <a:latin typeface="Segoe UI"/>
              </a:defRPr>
            </a:pPr>
            <a:r>
              <a:t>JG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83080" y="4800600"/>
            <a:ext cx="217627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João Gabryell Lopes Santana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783080" y="5276088"/>
            <a:ext cx="2011680" cy="292608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369A1"/>
                </a:solidFill>
                <a:latin typeface="Segoe UI"/>
              </a:defRPr>
            </a:pPr>
            <a:r>
              <a:t>Matrícula: 202310927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16552" y="4617720"/>
            <a:ext cx="336499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645152" y="4892040"/>
            <a:ext cx="685800" cy="685800"/>
          </a:xfrm>
          <a:prstGeom prst="ellipse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F766E"/>
                </a:solidFill>
                <a:latin typeface="Segoe UI"/>
              </a:defRPr>
            </a:pPr>
            <a:r>
              <a:t>KS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68112" y="4800600"/>
            <a:ext cx="217627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Kaike Santos dos Santos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68112" y="5276088"/>
            <a:ext cx="2011680" cy="292608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369A1"/>
                </a:solidFill>
                <a:latin typeface="Segoe UI"/>
              </a:defRPr>
            </a:pPr>
            <a:r>
              <a:t>Matrícula: 202311309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01584" y="4617720"/>
            <a:ext cx="336499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330184" y="4892040"/>
            <a:ext cx="685800" cy="685800"/>
          </a:xfrm>
          <a:prstGeom prst="ellipse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F766E"/>
                </a:solidFill>
                <a:latin typeface="Segoe UI"/>
              </a:defRPr>
            </a:pPr>
            <a:r>
              <a:t>TR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53144" y="4800600"/>
            <a:ext cx="217627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Tharcizio Rubens Santos Mota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53144" y="5276088"/>
            <a:ext cx="2011680" cy="292608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369A1"/>
                </a:solidFill>
                <a:latin typeface="Segoe UI"/>
              </a:defRPr>
            </a:pPr>
            <a:r>
              <a:t>Matrícula: 202211373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  <a:latin typeface="Segoe UI"/>
              </a:defRPr>
            </a:pPr>
            <a:r>
              <a:t>OBJETIVOS DE APRENDIZAGEM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Por que Estudar a Teoria Sistêmica?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3383280" cy="4206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7280" y="2103120"/>
            <a:ext cx="640080" cy="640080"/>
          </a:xfrm>
          <a:prstGeom prst="ellipse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👁️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Visão Holística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66160"/>
            <a:ext cx="2651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D9488"/>
                </a:solidFill>
                <a:latin typeface="Segoe UI"/>
              </a:defRPr>
            </a:pPr>
            <a:r>
              <a:t>Compreensão total da organização sem isolamento de setores.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663440"/>
            <a:ext cx="2651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64748B"/>
                </a:solidFill>
                <a:latin typeface="Segoe UI"/>
              </a:defRPr>
            </a:pPr>
            <a:r>
              <a:t>Ver o todo integrado ao invés de fragmentos desconexos. Elimina a miopia departamental.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737360"/>
            <a:ext cx="3383280" cy="4206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754880" y="2103120"/>
            <a:ext cx="640080" cy="640080"/>
          </a:xfrm>
          <a:prstGeom prst="ellipse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9260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Interdependência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3566160"/>
            <a:ext cx="2651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D9488"/>
                </a:solidFill>
                <a:latin typeface="Segoe UI"/>
              </a:defRPr>
            </a:pPr>
            <a:r>
              <a:t>Avaliação precisa dos impactos de decisões intersetoriais.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4663440"/>
            <a:ext cx="2651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64748B"/>
                </a:solidFill>
                <a:latin typeface="Segoe UI"/>
              </a:defRPr>
            </a:pPr>
            <a:r>
              <a:t>Cada ação em vendas reverbera em produção, logística, RH e fluxo de caixa.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737360"/>
            <a:ext cx="3383280" cy="4206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12480" y="2103120"/>
            <a:ext cx="640080" cy="640080"/>
          </a:xfrm>
          <a:prstGeom prst="ellipse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9260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Adaptabilidade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566160"/>
            <a:ext cx="2651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D9488"/>
                </a:solidFill>
                <a:latin typeface="Segoe UI"/>
              </a:defRPr>
            </a:pPr>
            <a:r>
              <a:t>Resposta rápida e contínua às transformações do mercado.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4663440"/>
            <a:ext cx="2651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64748B"/>
                </a:solidFill>
                <a:latin typeface="Segoe UI"/>
              </a:defRPr>
            </a:pPr>
            <a:r>
              <a:t>Capacidade dinâmica de sobreviver e prosperar em ambientes de alta incerteza.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  <a:latin typeface="Segoe UI"/>
              </a:defRPr>
            </a:pPr>
            <a:r>
              <a:t>TÓPICO 1  •  RELAÇÃO TEÓRICA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Abordagem Sistêmica na Administração Geral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88720" y="2011680"/>
            <a:ext cx="2286000" cy="365760"/>
          </a:xfrm>
          <a:prstGeom prst="round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B91C1C"/>
                </a:solidFill>
              </a:defRPr>
            </a:pPr>
            <a:r>
              <a:t>Abordagem Tradicional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560320"/>
            <a:ext cx="4206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Visão Mecanicista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291840"/>
            <a:ext cx="4206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 sz="1400">
                <a:solidFill>
                  <a:srgbClr val="B91C1C"/>
                </a:solidFill>
              </a:defRPr>
            </a:pPr>
            <a:r>
              <a:t>✗  Foco exclusivo em tarefas internas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   Atenção estrita aos postos de trabalho e eficiência de rotina isolada.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160520"/>
            <a:ext cx="4206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 sz="1400">
                <a:solidFill>
                  <a:srgbClr val="B91C1C"/>
                </a:solidFill>
              </a:defRPr>
            </a:pPr>
            <a:r>
              <a:t>✗  Departamentos isolados (Silos)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   Feudos corporativos onde as áreas não dialogam entre si.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5029200"/>
            <a:ext cx="4206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 sz="1400">
                <a:solidFill>
                  <a:srgbClr val="B91C1C"/>
                </a:solidFill>
              </a:defRPr>
            </a:pPr>
            <a:r>
              <a:t>✗  Organização vista como sistema fechado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   Crença de que o ambiente externo é previsível ou ignorável.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0" y="2011680"/>
            <a:ext cx="2286000" cy="365760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100">
                <a:solidFill>
                  <a:srgbClr val="0F766E"/>
                </a:solidFill>
              </a:defRPr>
            </a:pPr>
            <a:r>
              <a:t>Abordagem Sistêmica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2560320"/>
            <a:ext cx="4206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Visão Integrada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3291840"/>
            <a:ext cx="4206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 sz="1400">
                <a:solidFill>
                  <a:srgbClr val="0F766E"/>
                </a:solidFill>
              </a:defRPr>
            </a:pPr>
            <a:r>
              <a:t>✓  Integração total dos subsistemas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   Processos transversais fluidos com cooperação intersetorial ativa.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4160520"/>
            <a:ext cx="4206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 sz="1400">
                <a:solidFill>
                  <a:srgbClr val="0F766E"/>
                </a:solidFill>
              </a:defRPr>
            </a:pPr>
            <a:r>
              <a:t>✓  Interação constante com o ambiente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   Monitoramento diário de concorrentes, clientes, leis e tecnologia.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5029200"/>
            <a:ext cx="4206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b="1" sz="1400">
                <a:solidFill>
                  <a:srgbClr val="0F766E"/>
                </a:solidFill>
              </a:defRPr>
            </a:pPr>
            <a:r>
              <a:t>✓  Foco em objetivos globais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   O sucesso da empresa como um todo supera os ganhos isolados de uma área.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  <a:latin typeface="Segoe UI"/>
              </a:defRPr>
            </a:pPr>
            <a:r>
              <a:t>TÓPICO 2  •  ASPECTOS BÁSICOS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O Fluxo Fundamental de um Sistema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242316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" y="2103120"/>
            <a:ext cx="594360" cy="594360"/>
          </a:xfrm>
          <a:prstGeom prst="ellipse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/>
            </a:pPr>
            <a:r>
              <a:t>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1874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Entradas (Inputs)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520440"/>
            <a:ext cx="1874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D9488"/>
                </a:solidFill>
                <a:latin typeface="Segoe UI"/>
              </a:defRPr>
            </a:pPr>
            <a:r>
              <a:t>Insumos, dados e matérias-primas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480560"/>
            <a:ext cx="1874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Segoe UI"/>
              </a:defRPr>
            </a:pPr>
            <a:r>
              <a:t>Recursos humanos, financeiros, informação e tecnologia recebidos do ambiente.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356616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0D9488"/>
                </a:solidFill>
              </a:defRPr>
            </a:pPr>
            <a:r>
              <a:t>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1737360"/>
            <a:ext cx="242316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840480" y="2103120"/>
            <a:ext cx="594360" cy="594360"/>
          </a:xfrm>
          <a:prstGeom prst="ellipse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/>
            </a:pPr>
            <a:r>
              <a:t>⚙️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2926080"/>
            <a:ext cx="1874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Processamento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3520440"/>
            <a:ext cx="1874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D9488"/>
                </a:solidFill>
                <a:latin typeface="Segoe UI"/>
              </a:defRPr>
            </a:pPr>
            <a:r>
              <a:t>Transformação operacional interna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4480560"/>
            <a:ext cx="1874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Segoe UI"/>
              </a:defRPr>
            </a:pPr>
            <a:r>
              <a:t>Conversão produtiva, metodologias, linhas de montagem e tomada de decisão.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7880" y="356616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0D9488"/>
                </a:solidFill>
              </a:defRPr>
            </a:pPr>
            <a:r>
              <a:t>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737360"/>
            <a:ext cx="242316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629400" y="2103120"/>
            <a:ext cx="594360" cy="594360"/>
          </a:xfrm>
          <a:prstGeom prst="ellipse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/>
            </a:pPr>
            <a:r>
              <a:t>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926080"/>
            <a:ext cx="1874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172A"/>
                </a:solidFill>
                <a:latin typeface="Segoe UI"/>
              </a:defRPr>
            </a:pPr>
            <a:r>
              <a:t>Saídas (Outputs)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520440"/>
            <a:ext cx="1874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D9488"/>
                </a:solidFill>
                <a:latin typeface="Segoe UI"/>
              </a:defRPr>
            </a:pPr>
            <a:r>
              <a:t>Produtos, serviços e resultados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480560"/>
            <a:ext cx="1874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Segoe UI"/>
              </a:defRPr>
            </a:pPr>
            <a:r>
              <a:t>Entregas tangíveis, valor gerado, rentabilidade e impactos no mercado.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56616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0D9488"/>
                </a:solidFill>
              </a:defRPr>
            </a:pPr>
            <a:r>
              <a:t>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98280" y="1737360"/>
            <a:ext cx="2423160" cy="41148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418320" y="2103120"/>
            <a:ext cx="594360" cy="5943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/>
            </a:pPr>
            <a:r>
              <a:t>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2926080"/>
            <a:ext cx="1874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Segoe UI"/>
              </a:defRPr>
            </a:pPr>
            <a:r>
              <a:t>Feedback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600" y="3520440"/>
            <a:ext cx="1874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Segoe UI"/>
              </a:defRPr>
            </a:pPr>
            <a:r>
              <a:t>Retroalimentação e ajuste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72600" y="4480560"/>
            <a:ext cx="1874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  <a:latin typeface="Segoe UI"/>
              </a:defRPr>
            </a:pPr>
            <a:r>
              <a:t>Avaliações, métricas, satisfação do cliente e correções de rumo em tempo real.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  <a:latin typeface="Segoe UI"/>
              </a:defRPr>
            </a:pPr>
            <a:r>
              <a:t>TÓPICO 3  •  ESTRUTURA DE NÍVEIS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Hierarquização de Sistemas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1069848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9728" cy="12801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Supersistema (Suprasistema)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331720"/>
            <a:ext cx="7772400" cy="5943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300">
                <a:solidFill>
                  <a:srgbClr val="64748B"/>
                </a:solidFill>
                <a:latin typeface="Segoe UI"/>
              </a:defRPr>
            </a:pPr>
            <a:r>
              <a:t>Ambiente externo abrangente: mercado consumidor, concorrência, marcos regulatórios, avanços tecnológicos e contexto socioeconômico global.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0" y="2148840"/>
            <a:ext cx="1554480" cy="41148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200">
                <a:solidFill>
                  <a:srgbClr val="0369A1"/>
                </a:solidFill>
              </a:defRPr>
            </a:pPr>
            <a:r>
              <a:t>Nível Macro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46120"/>
            <a:ext cx="1069848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3246120"/>
            <a:ext cx="109728" cy="128016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42900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Sistema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840480"/>
            <a:ext cx="7772400" cy="5943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300">
                <a:solidFill>
                  <a:srgbClr val="64748B"/>
                </a:solidFill>
                <a:latin typeface="Segoe UI"/>
              </a:defRPr>
            </a:pPr>
            <a:r>
              <a:t>A organização ou empresa considerada em sua totalidade focal: cultura corporativa, governança, identidade de marca e estratégia integrada.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0" y="3657600"/>
            <a:ext cx="1554480" cy="411480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200">
                <a:solidFill>
                  <a:srgbClr val="0F766E"/>
                </a:solidFill>
              </a:defRPr>
            </a:pPr>
            <a:r>
              <a:t>Nível Mapeado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754880"/>
            <a:ext cx="1069848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4754880"/>
            <a:ext cx="109728" cy="1280160"/>
          </a:xfrm>
          <a:prstGeom prst="round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93776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Subsistemas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349240"/>
            <a:ext cx="7772400" cy="5943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300">
                <a:solidFill>
                  <a:srgbClr val="64748B"/>
                </a:solidFill>
                <a:latin typeface="Segoe UI"/>
              </a:defRPr>
            </a:pPr>
            <a:r>
              <a:t>Departamentos, divisões funcionais, setores operacionais e equipes multidisciplinares internas responsáveis por etapas específicas do trabalho.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0" y="5166360"/>
            <a:ext cx="1554480" cy="41148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200">
                <a:solidFill>
                  <a:srgbClr val="0369A1"/>
                </a:solidFill>
              </a:defRPr>
            </a:pPr>
            <a:r>
              <a:t>Nível Micro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  <a:latin typeface="Segoe UI"/>
              </a:defRPr>
            </a:pPr>
            <a:r>
              <a:t>TÓPICO 4  •  PRINCÍPIOS PRÁTICOS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Aplicação dos Conceitos Sistêmicos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12064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" y="2057400"/>
            <a:ext cx="502920" cy="502920"/>
          </a:xfrm>
          <a:prstGeom prst="ellipse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201168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D9488"/>
                </a:solidFill>
                <a:latin typeface="Segoe UI"/>
              </a:defRPr>
            </a:pPr>
            <a:r>
              <a:t>Sinergia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359152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4748B"/>
                </a:solidFill>
                <a:latin typeface="Segoe UI"/>
              </a:defRPr>
            </a:pPr>
            <a:r>
              <a:t>O todo é maior que a soma das partes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788920"/>
            <a:ext cx="4480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0F172A"/>
                </a:solidFill>
                <a:latin typeface="Segoe UI"/>
              </a:defRPr>
            </a:pPr>
            <a:r>
              <a:t>Trabalho conjunto cooperativo com resultado substancialmente superior à mera soma individual dos esforços (1 + 1 = 3).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737360"/>
            <a:ext cx="512064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629400" y="2057400"/>
            <a:ext cx="502920" cy="502920"/>
          </a:xfrm>
          <a:prstGeom prst="ellipse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⚖️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01168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0B981"/>
                </a:solidFill>
                <a:latin typeface="Segoe UI"/>
              </a:defRPr>
            </a:pPr>
            <a:r>
              <a:t>Homeostase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359152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4748B"/>
                </a:solidFill>
                <a:latin typeface="Segoe UI"/>
              </a:defRPr>
            </a:pPr>
            <a:r>
              <a:t>Equilíbrio dinâmico e autorregulação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788920"/>
            <a:ext cx="4480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0F172A"/>
                </a:solidFill>
                <a:latin typeface="Segoe UI"/>
              </a:defRPr>
            </a:pPr>
            <a:r>
              <a:t>Capacidade do sistema de resistir a perturbações externas e restaurar a estabilidade operacional através de autocorreção contínua.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69080"/>
            <a:ext cx="512064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51560" y="4389120"/>
            <a:ext cx="502920" cy="502920"/>
          </a:xfrm>
          <a:prstGeom prst="ellipse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34340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D9488"/>
                </a:solidFill>
                <a:latin typeface="Segoe UI"/>
              </a:defRPr>
            </a:pPr>
            <a:r>
              <a:t>Entropia Negativa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4690872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4748B"/>
                </a:solidFill>
                <a:latin typeface="Segoe UI"/>
              </a:defRPr>
            </a:pPr>
            <a:r>
              <a:t>Importação ativa de energia vital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120640"/>
            <a:ext cx="4480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0F172A"/>
                </a:solidFill>
                <a:latin typeface="Segoe UI"/>
              </a:defRPr>
            </a:pPr>
            <a:r>
              <a:t>Tendência natural de qualquer sistema fechado é o caos e a morte (entropia). Sistemas abertos importam energia para reverter o desgaste.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4069080"/>
            <a:ext cx="512064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29400" y="4389120"/>
            <a:ext cx="502920" cy="502920"/>
          </a:xfrm>
          <a:prstGeom prst="ellipse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434340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0B981"/>
                </a:solidFill>
                <a:latin typeface="Segoe UI"/>
              </a:defRPr>
            </a:pPr>
            <a:r>
              <a:t>Equifinalidade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4690872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4748B"/>
                </a:solidFill>
                <a:latin typeface="Segoe UI"/>
              </a:defRPr>
            </a:pPr>
            <a:r>
              <a:t>Múltiplos caminhos, mesmo resultado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5120640"/>
            <a:ext cx="4480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0F172A"/>
                </a:solidFill>
                <a:latin typeface="Segoe UI"/>
              </a:defRPr>
            </a:pPr>
            <a:r>
              <a:t>Capacidade de alcançar o mesmo objetivo final a partir de diferentes condições iniciais e por variadas rotas estratégicas.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  <a:latin typeface="Segoe UI"/>
              </a:defRPr>
            </a:pPr>
            <a:r>
              <a:t>TÓPICO 5  •  PROPRIEDADES ABERTAS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Organizações como Sistemas Abertos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30352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965960"/>
            <a:ext cx="365760" cy="3657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1901952"/>
            <a:ext cx="3566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Fronteiras Permeáveis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240280"/>
            <a:ext cx="3474720" cy="6858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b="1" sz="1200">
                <a:solidFill>
                  <a:srgbClr val="0D9488"/>
                </a:solidFill>
              </a:defRPr>
            </a:pPr>
            <a:r>
              <a:t>Troca contínua de dados, clientes e recursos com o ecossistema externo.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A empresa não tem muros impenetráveis: absorve demandas da sociedade e responde com inovação e valor.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00400"/>
            <a:ext cx="530352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3429000"/>
            <a:ext cx="365760" cy="3657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3364992"/>
            <a:ext cx="3566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Dinamismo Constante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703320"/>
            <a:ext cx="3474720" cy="6858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b="1" sz="1200">
                <a:solidFill>
                  <a:srgbClr val="0D9488"/>
                </a:solidFill>
              </a:defRPr>
            </a:pPr>
            <a:r>
              <a:t>Reorganização flexível para sustentação do equilíbrio adaptativo.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Frente a novas regulamentações ou concorrentes agressivos, o arranjo interno se adapta sem colapsar.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663440"/>
            <a:ext cx="530352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4892040"/>
            <a:ext cx="365760" cy="3657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54480" y="4828032"/>
            <a:ext cx="3566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Ciclos de Eventos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5166360"/>
            <a:ext cx="3474720" cy="6858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b="1" sz="1200">
                <a:solidFill>
                  <a:srgbClr val="0D9488"/>
                </a:solidFill>
              </a:defRPr>
            </a:pPr>
            <a:r>
              <a:t>Reciclagem e reinvestimento contínuo para garantir longevidade.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A receita gerada nas vendas é reinvestida em insumos, pesquisa e salários, retroalimentando o ciclo.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1737360"/>
            <a:ext cx="50292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920240"/>
            <a:ext cx="4663440" cy="284363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83680" y="5577840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64748B"/>
                </a:solidFill>
              </a:defRPr>
            </a:pPr>
            <a:r>
              <a:t>Rede de Interconexões: Nós interdependentes e fluxo contínuo de estímulos.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  <a:latin typeface="Segoe UI"/>
              </a:defRPr>
            </a:pPr>
            <a:r>
              <a:t>TÓPICO 6  •  FUNDAMENTAÇÃO TEÓRICA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Principais Teóricos do Pensamento Sistêmico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338328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2103120"/>
            <a:ext cx="594360" cy="5943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600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80360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Segoe UI"/>
              </a:defRPr>
            </a:pPr>
            <a:r>
              <a:t>Ludwig von Bertalanffy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47472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0D9488"/>
                </a:solidFill>
              </a:defRPr>
            </a:pPr>
            <a:r>
              <a:t>Criador da TGS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86200"/>
            <a:ext cx="2651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Segoe UI"/>
              </a:defRPr>
            </a:pPr>
            <a:r>
              <a:t>Biólogo austríaco que concebeu a Teoria Geral dos Sistemas (década de 1950). Propôs que princípios universais regem sistemas em todos os ramos da ciência, da biologia à administração.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5440680"/>
            <a:ext cx="2651760" cy="320040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766E"/>
                </a:solidFill>
              </a:defRPr>
            </a:pPr>
            <a:r>
              <a:t>★ Pioneirismo Conceitual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737360"/>
            <a:ext cx="338328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103120"/>
            <a:ext cx="594360" cy="59436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600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880360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Segoe UI"/>
              </a:defRPr>
            </a:pPr>
            <a:r>
              <a:t>C. West Churchman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47472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0D9488"/>
                </a:solidFill>
              </a:defRPr>
            </a:pPr>
            <a:r>
              <a:t>Pioneiro da Gestão Sistêmica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886200"/>
            <a:ext cx="2651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Segoe UI"/>
              </a:defRPr>
            </a:pPr>
            <a:r>
              <a:t>Filósofo e pesquisador operacional norte-americano. Foi quem primeiro aplicou com rigor o pensamento sistêmico no planejamento estratégico corporativo e na tomada de decisão gerencial.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5440680"/>
            <a:ext cx="2651760" cy="320040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766E"/>
                </a:solidFill>
              </a:defRPr>
            </a:pPr>
            <a:r>
              <a:t>★ Aplicação Gerencial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737360"/>
            <a:ext cx="338328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80" y="2103120"/>
            <a:ext cx="594360" cy="5943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600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880360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Segoe UI"/>
              </a:defRPr>
            </a:pPr>
            <a:r>
              <a:t>Chester Barnard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347472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0D9488"/>
                </a:solidFill>
              </a:defRPr>
            </a:pPr>
            <a:r>
              <a:t>Sistemas Cooperativos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886200"/>
            <a:ext cx="2651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Segoe UI"/>
              </a:defRPr>
            </a:pPr>
            <a:r>
              <a:t>Executivo e teórico que conceituou a organização como um 'sistema cooperativo aberto'. Demonstrou que a sobrevivência da firma depende do equilíbrio entre contribuições e incentivos das pessoas.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12480" y="5440680"/>
            <a:ext cx="2651760" cy="320040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766E"/>
                </a:solidFill>
              </a:defRPr>
            </a:pPr>
            <a:r>
              <a:t>★ Dimensão Humana &amp; Aberta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  <a:latin typeface="Segoe UI"/>
              </a:defRPr>
            </a:pPr>
            <a:r>
              <a:t>TÓPICO 7  •  CLASSIFICAÇÃO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Sistemas Abertos vs. Sistemas Fechados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103120"/>
            <a:ext cx="4206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"/>
              </a:defRPr>
            </a:pPr>
            <a:r>
              <a:t>Sistemas Fechados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743200"/>
            <a:ext cx="4206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•  Sem intercâmbio com o meio externo.</a:t>
            </a:r>
          </a:p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•  Comportamento puramente determinístico, mecânico e previsível.</a:t>
            </a:r>
          </a:p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•  Sujeito à entropia positiva máxima: desgaste, obsolescência e colapso inevitável.</a:t>
            </a:r>
          </a:p>
          <a:p>
            <a:pPr>
              <a:spcAft>
                <a:spcPts val="800"/>
              </a:spcAft>
              <a:defRPr sz="1300">
                <a:solidFill>
                  <a:srgbClr val="64748B"/>
                </a:solidFill>
              </a:defRPr>
            </a:pPr>
            <a:r>
              <a:t>•  Não reage nem se adapta a mudanças do ambiente.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5029200"/>
            <a:ext cx="4206240" cy="59436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i="1">
                <a:solidFill>
                  <a:srgbClr val="64748B"/>
                </a:solidFill>
              </a:defRPr>
            </a:pPr>
            <a:r>
              <a:t>Exemplo Prático: Máquinas isoladas, circuitos fechados, motores industriais sem sensor externo.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37360"/>
            <a:ext cx="5120640" cy="43891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103120"/>
            <a:ext cx="4206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Sistemas Abertos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743200"/>
            <a:ext cx="4206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0B981"/>
                </a:solidFill>
              </a:defRPr>
            </a:pPr>
            <a:r>
              <a:t>✓  Troca constante e vital de energia, insumos, dados e matérias.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</a:defRPr>
            </a:pPr>
            <a:r>
              <a:t>✓  Alta capacidade adaptativa e flexibilidade frente a incertezas.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</a:defRPr>
            </a:pPr>
            <a:r>
              <a:t>✓  Possuem homeostase dinâmica e entropia negativa (reorganização constante).</a:t>
            </a:r>
          </a:p>
          <a:p>
            <a:pPr>
              <a:spcAft>
                <a:spcPts val="800"/>
              </a:spcAft>
              <a:defRPr sz="1300">
                <a:solidFill>
                  <a:srgbClr val="CBD5E1"/>
                </a:solidFill>
              </a:defRPr>
            </a:pPr>
            <a:r>
              <a:t>✓  Atingem equifinalidade: atingem metas por rotas diversas.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0" y="5029200"/>
            <a:ext cx="4206240" cy="5943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i="1">
                <a:solidFill>
                  <a:srgbClr val="10B981"/>
                </a:solidFill>
              </a:defRPr>
            </a:pPr>
            <a:r>
              <a:t>Exemplo Prático: Empresas, ecossistemas digitais, startups, seres humanos e sociedades.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  <a:latin typeface="Segoe UI"/>
              </a:defRPr>
            </a:pPr>
            <a:r>
              <a:t>TÓPICO 8  •  ABORDAGEM SOCIOTÉCNICA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A Abordagem Sociotécnica</a:t>
            </a:r>
          </a:p>
        </p:txBody>
      </p:sp>
      <p:pic>
        <p:nvPicPr>
          <p:cNvPr id="4" name="Picture 3" descr="fa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512064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394960"/>
            <a:ext cx="5120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64748B"/>
                </a:solidFill>
              </a:defRPr>
            </a:pPr>
            <a:r>
              <a:t>Indústria 4.0 &amp; Automação: Tecnologia avançada integrada ao fator humano.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737360"/>
            <a:ext cx="530352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9202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0D9488"/>
                </a:solidFill>
                <a:latin typeface="Segoe UI"/>
              </a:defRPr>
            </a:pPr>
            <a:r>
              <a:t>Subsistema Técnico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377440"/>
            <a:ext cx="4572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F172A"/>
                </a:solidFill>
              </a:defRPr>
            </a:pPr>
            <a:r>
              <a:t>Tecnologia, equipamentos, infraestrutura física, softwares, linhas de produção e processos operacionais padronizados.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749039"/>
            <a:ext cx="530352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39319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10B981"/>
                </a:solidFill>
                <a:latin typeface="Segoe UI"/>
              </a:defRPr>
            </a:pPr>
            <a:r>
              <a:t>Subsistema Social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4389120"/>
            <a:ext cx="4572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0F172A"/>
                </a:solidFill>
              </a:defRPr>
            </a:pPr>
            <a:r>
              <a:t>Pessoas, relações interpessoais, liderança, cultura organizacional, motivação humana, valores e competências.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5715000"/>
            <a:ext cx="5303520" cy="411480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766E"/>
                </a:solidFill>
              </a:defRPr>
            </a:pPr>
            <a:r>
              <a:t>Princípio da Otimização Conjunta: O sucesso exige equilibrar técnica e pessoas.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  <a:latin typeface="Segoe UI"/>
              </a:defRPr>
            </a:pPr>
            <a:r>
              <a:t>SÍNTESE PRÁTICA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Gestão Sistêmica no Processo Decisório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48640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51560" y="2057400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500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901952"/>
            <a:ext cx="3566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Mapeamento Prévio de Impactos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240280"/>
            <a:ext cx="3566160" cy="5943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Segoe UI"/>
              </a:defRPr>
            </a:pPr>
            <a:r>
              <a:t>Avaliação das consequências em cascata antes de implementar qualquer decisão estratégica (prevenção do efeito dominó).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154680"/>
            <a:ext cx="548640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51560" y="3474720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500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3319272"/>
            <a:ext cx="3566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Eliminação de Silos Operacionais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3657600"/>
            <a:ext cx="3566160" cy="5943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Segoe UI"/>
              </a:defRPr>
            </a:pPr>
            <a:r>
              <a:t>Derrubada de barreiras comunicacionais e cooperação horizontal fluida entre todos os departamentos.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572000"/>
            <a:ext cx="548640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1560" y="4892040"/>
            <a:ext cx="502920" cy="50292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500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4736592"/>
            <a:ext cx="3566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Alinhamento Dinâmico com o Ambiente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5074920"/>
            <a:ext cx="3566160" cy="5943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200">
                <a:solidFill>
                  <a:srgbClr val="64748B"/>
                </a:solidFill>
                <a:latin typeface="Segoe UI"/>
              </a:defRPr>
            </a:pPr>
            <a:r>
              <a:t>Sincronização ágil entre os objetivos internos da empresa e as demandas voláteis dos clientes e do mercado.</a:t>
            </a:r>
          </a:p>
        </p:txBody>
      </p:sp>
      <p:pic>
        <p:nvPicPr>
          <p:cNvPr id="16" name="Picture 15" descr="cub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737360"/>
            <a:ext cx="4846320" cy="272605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83680" y="539496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i="1">
                <a:solidFill>
                  <a:srgbClr val="64748B"/>
                </a:solidFill>
              </a:defRPr>
            </a:pPr>
            <a:r>
              <a:t>Tomada de Decisão Sistêmica: Conectando lideranças e eliminando silos.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638190" y="1371600"/>
            <a:ext cx="914400" cy="91440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/>
            </a:pPr>
            <a:r>
              <a:t>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46888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Visão Sistêmica como Vantagem Competitiva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011680" y="3383280"/>
            <a:ext cx="8168335" cy="1371600"/>
          </a:xfrm>
          <a:prstGeom prst="roundRect">
            <a:avLst/>
          </a:prstGeom>
          <a:solidFill>
            <a:srgbClr val="141F3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i="1">
                <a:solidFill>
                  <a:srgbClr val="10B981"/>
                </a:solidFill>
                <a:latin typeface="Segoe UI"/>
              </a:defRPr>
            </a:pPr>
            <a:r>
              <a:t>“A organização não é uma soma de partes isoladas,</a:t>
            </a:r>
            <a:br/>
            <a:r>
              <a:t>mas uma rede viva de interações contínuas.”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12064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CBD5E1"/>
                </a:solidFill>
              </a:defRPr>
            </a:pPr>
            <a:r>
              <a:t>Pensamento Holístico   •   Integração Tecnológica &amp; Humana   •   Adaptabilidade Contínua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  <a:latin typeface="Segoe UI"/>
              </a:defRPr>
            </a:pPr>
            <a:r>
              <a:t>FONTES &amp; LEITURAS RECOMENDADAS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Fundamentação Bibliográfica e Fontes Visuais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D9488"/>
                </a:solidFill>
                <a:latin typeface="Segoe UI"/>
              </a:defRPr>
            </a:pPr>
            <a:r>
              <a:t>📚 Obras Clássicas de Referência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560320"/>
            <a:ext cx="4389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•  BERTALANFFY, Ludwig von. Teoria Geral dos Sistemas: Fundamentos, Desenvolvimento e Aplicações. Petrópolis: Vozes, 1975.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•  CHURCHMAN, C. West. The Systems Approach. New York: Dell Publishing, 1968.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•  BARNARD, Chester. As Funções do Executivo. São Paulo: Atlas, 1979.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•  KATZ, Daniel; KAHN, Robert L. Psicologia Social das Organizações. São Paulo: Atlas, 1978.</a:t>
            </a:r>
          </a:p>
          <a:p>
            <a:pPr>
              <a:spcAft>
                <a:spcPts val="1000"/>
              </a:spcAft>
              <a:defRPr sz="1100">
                <a:solidFill>
                  <a:srgbClr val="0F172A"/>
                </a:solidFill>
              </a:defRPr>
            </a:pPr>
            <a:r>
              <a:t>•  CHIAVENATO, Idalberto. Introdução à Teoria Geral da Administração. 10. ed. Rio de Janeiro: GEN Atlas, 2020.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737360"/>
            <a:ext cx="512064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201168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D9488"/>
                </a:solidFill>
                <a:latin typeface="Segoe UI"/>
              </a:defRPr>
            </a:pPr>
            <a:r>
              <a:t>🌐 Estudos e Fontes Visuais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560320"/>
            <a:ext cx="4389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F172A"/>
                </a:solidFill>
              </a:defRPr>
            </a:pPr>
            <a:r>
              <a:t>🔗 MIT Sloan Management Review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What is Systems Thinking in Business?</a:t>
            </a:r>
          </a:p>
          <a:p>
            <a:pPr>
              <a:spcAft>
                <a:spcPts val="800"/>
              </a:spcAft>
              <a:defRPr sz="1000" i="1">
                <a:solidFill>
                  <a:srgbClr val="0D9488"/>
                </a:solidFill>
              </a:defRPr>
            </a:pPr>
            <a:r>
              <a:t>   Fonte: https://executive.mit.edu/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🔗 Frontiers in Psychology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Systems Theory and Behavioral Interaction Networks</a:t>
            </a:r>
          </a:p>
          <a:p>
            <a:pPr>
              <a:spcAft>
                <a:spcPts val="800"/>
              </a:spcAft>
              <a:defRPr sz="1000" i="1">
                <a:solidFill>
                  <a:srgbClr val="0D9488"/>
                </a:solidFill>
              </a:defRPr>
            </a:pPr>
            <a:r>
              <a:t>   Fonte: https://www.frontiersin.org/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🔗 NVIDIA Omniverse Manufacturing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Digital Twins &amp; Cyber-Physical Operational Systems</a:t>
            </a:r>
          </a:p>
          <a:p>
            <a:pPr>
              <a:spcAft>
                <a:spcPts val="800"/>
              </a:spcAft>
              <a:defRPr sz="1000" i="1">
                <a:solidFill>
                  <a:srgbClr val="0D9488"/>
                </a:solidFill>
              </a:defRPr>
            </a:pPr>
            <a:r>
              <a:t>   Fonte: https://nvidianews.nvidia.com/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🔗 Tavistock Institute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Socio-Technical Systems Design and Organizational Work</a:t>
            </a:r>
          </a:p>
          <a:p>
            <a:pPr>
              <a:spcAft>
                <a:spcPts val="800"/>
              </a:spcAft>
              <a:defRPr sz="1000" i="1">
                <a:solidFill>
                  <a:srgbClr val="0D9488"/>
                </a:solidFill>
              </a:defRPr>
            </a:pPr>
            <a:r>
              <a:t>   Fonte: Historical Research Papers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