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1: CAPA]</a:t>
            </a:r>
          </a:p>
          <a:p>
            <a:r>
              <a:t>- Bom dia/boa tarde a todos. Hoje vamos explorar um dos marcos mais revolucionários da gestão moderna: a Teoria Sistêmica na Administração.</a:t>
            </a:r>
          </a:p>
          <a:p>
            <a:r>
              <a:t>- Durante décadas, a administração tradicional tratou as empresas como máquinas e engrenagens isoladas. Cada departamento cuidava apenas do seu quadrado.</a:t>
            </a:r>
          </a:p>
          <a:p>
            <a:r>
              <a:t>- A Teoria Sistêmica rompe com esse reducionismo: ela nos ensina a olhar para as empresas não como fábricas mecânicas fechadas, mas como organismos vivos, dinâmicos e abertos em constante troca com a sociedade, clientes e mercado.</a:t>
            </a:r>
          </a:p>
          <a:p>
            <a:r>
              <a:t>- Ao longo desta apresentação, veremos os fundamentos, os principais teóricos, as propriedades operacionais e, principalmente, como essa visão se converte em vantagem competitiva real no processo de tomada de decisão.</a:t>
            </a:r>
          </a:p>
          <a:p>
            <a:r>
              <a:t>Tempo estimado: 1 a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2: POR QUE ESTUDAR A TEORIA SISTÊMICA?]</a:t>
            </a:r>
          </a:p>
          <a:p>
            <a:r>
              <a:t>- Três grandes competências justificam o domínio deste tema:</a:t>
            </a:r>
          </a:p>
          <a:p>
            <a:r>
              <a:t>1. Visão Holística: 'Holos' vem do grego e significa 'todo'. Um gestor sistêmico não olha apenas para a sua mesa ou para a sua meta individual; ele enxerga a cadeia de ponta a ponta.</a:t>
            </a:r>
          </a:p>
          <a:p>
            <a:r>
              <a:t>2. Interdependência: Em uma organização, nada acontece no vácuo. Se o marketing cria uma promoção agressiva sem alinhar com operações e estoque, a empresa gera frustração no cliente e gargalos logísticos. Decisões eficazes mapeiam esses elos.</a:t>
            </a:r>
          </a:p>
          <a:p>
            <a:r>
              <a:t>3. Adaptabilidade: Vivemos na era da volatilidade. Empresas que se fecham em velhos manuais perecem; sistemas que escutam o ambiente e aprendem continuam evoluindo.</a:t>
            </a:r>
          </a:p>
          <a:p>
            <a:r>
              <a:t>Tempo estimado: 1 minuto e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3: VISÃO MECANICISTA VS. VISÃO INTEGRADA]</a:t>
            </a:r>
          </a:p>
          <a:p>
            <a:r>
              <a:t>- Façamos este contraste fundamental:</a:t>
            </a:r>
          </a:p>
          <a:p>
            <a:r>
              <a:t>- À esquerda, temos a Administração Científica e Clássica (Taylor e Fayol). Para eles, a empresa era como uma máquina de relógio: peças intercambiáveis, regras rígidas e foco exclusivo para dentro da fábrica (sistema fechado).</a:t>
            </a:r>
          </a:p>
          <a:p>
            <a:r>
              <a:t>- À direita, a Abordagem Sistêmica: percebeu-se que uma empresa não sobrevive isolada. Ela consome recursos do ambiente externo e precisa entregar valor para esse mesmo ambiente.</a:t>
            </a:r>
          </a:p>
          <a:p>
            <a:r>
              <a:t>- Mais importante: na visão mecanicista, se cada setor bater sua meta, teoricamente tudo dá certo. Na visão sistêmica, descobrimos que metas locais conflitantes destroem o objetivo global. A integração é soberana!</a:t>
            </a:r>
          </a:p>
          <a:p>
            <a:r>
              <a:t>Tempo estimado: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4: FLUXO FUNDAMENTAL DE UM SISTEMA]</a:t>
            </a:r>
          </a:p>
          <a:p>
            <a:r>
              <a:t>- Todo sistema dinâmico opera através deste circuito vital contínuo:</a:t>
            </a:r>
          </a:p>
          <a:p>
            <a:r>
              <a:t>1. Entradas (Inputs): Insumos, matérias-primas, talentos, capitais e, cada vez mais, dados e informações.</a:t>
            </a:r>
          </a:p>
          <a:p>
            <a:r>
              <a:t>2. Processamento (Throughput): A capacidade da organização de transformar esses recursos com inteligência, agilidade e eficiência.</a:t>
            </a:r>
          </a:p>
          <a:p>
            <a:r>
              <a:t>3. Saídas (Outputs): O que devolvemos ao ecossistema: produtos de qualidade, serviços de valor, lucros e reputação.</a:t>
            </a:r>
          </a:p>
          <a:p>
            <a:r>
              <a:t>4. Feedback (Retroalimentação - destacado à direita): Este é o coração da sobrevivência. O feedback nos diz se as saídas atenderam às expectativas. Sem feedback, um sistema fica cego e caminha para a falência.</a:t>
            </a:r>
          </a:p>
          <a:p>
            <a:r>
              <a:t>Tempo estimado: 1 minuto e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5: HIERARQUIZAÇÃO DE SISTEMAS]</a:t>
            </a:r>
          </a:p>
          <a:p>
            <a:r>
              <a:t>- O pensamento sistêmico nos ensina que a fronteira de um sistema depende do ponto de vista do observador (efeito matriosca ou bonecas russas):</a:t>
            </a:r>
          </a:p>
          <a:p>
            <a:r>
              <a:t>- No Nível Macro (Supersistema): Temos o ecossistema econômico, as leis, a concorrência global e a cultura social. Nenhuma empresa controla o supersistema sozinha, mas todas são impactadas por ele.</a:t>
            </a:r>
          </a:p>
          <a:p>
            <a:r>
              <a:t>- No Nível Mapeado (Sistema): É a empresa como um todo. É o foco da estratégia executiva.</a:t>
            </a:r>
          </a:p>
          <a:p>
            <a:r>
              <a:t>- No Nível Micro (Subsistemas): São o marketing, finanças, compras, RH, TI. Para o diretor de TI, o departamento de TI é o seu sistema; mas para a presidência, ele é apenas um subsistema a serviço do todo.</a:t>
            </a:r>
          </a:p>
          <a:p>
            <a:r>
              <a:t>- O segredo da governança sistêmica é garantir que o subsistema não tente se comportar como se fosse maior que o sistema focal.</a:t>
            </a:r>
          </a:p>
          <a:p>
            <a:r>
              <a:t>Tempo estimado: 1 minuto e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6: CONCEITOS SISTÊMICOS FUNDAMENTAIS]</a:t>
            </a:r>
          </a:p>
          <a:p>
            <a:r>
              <a:t>- Estes quatro termos são clássicos em provas, bancas e na literatura gerencial:</a:t>
            </a:r>
          </a:p>
          <a:p>
            <a:r>
              <a:t>1. Sinergia: Quando dois times trabalham juntos de forma alinhada, o valor criado supera muito a soma dos dois trabalhando isolados.</a:t>
            </a:r>
          </a:p>
          <a:p>
            <a:r>
              <a:t>2. Homeostase: Termo emprestado da biologia. Assim como o corpo humano regula a temperatura a 36,5°C faça frio ou calor, a empresa usa estoques de segurança, caixas de reserva e ajustes de preços para manter seu equilíbrio financeiro e produtivo.</a:t>
            </a:r>
          </a:p>
          <a:p>
            <a:r>
              <a:t>3. Entropia Negativa (ou Negentropia): Pela física, tudo tende à desordem e ao colapso se for abandonado. As empresas combatem isso importando nova energia: contratando novos talentos, adotando novas tecnologias e oxigenando seus processos.</a:t>
            </a:r>
          </a:p>
          <a:p>
            <a:r>
              <a:t>4. Equifinalidade: Não existe uma única 'receita de bolo' para lucrar ou vencer no mercado. Uma empresa pode crescer via inovação tecnológica de ponta, enquanto outra alcança o mesmo sucesso via excelência em atendimento ao cliente ou baixo custo.</a:t>
            </a:r>
          </a:p>
          <a:p>
            <a:r>
              <a:t>Tempo estimado: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7: ORGANIZAÇÕES COMO SISTEMAS ABERTOS]</a:t>
            </a:r>
          </a:p>
          <a:p>
            <a:r>
              <a:t>- O que torna uma empresa um sistema aberto?</a:t>
            </a:r>
          </a:p>
          <a:p>
            <a:r>
              <a:t>1. Fronteiras Permeáveis: Uma empresa não pode ser uma caixa-preta fechada. Ela compra do fornecedor, atende ao cliente, negocia com bancos e cumpre normas ambientais.</a:t>
            </a:r>
          </a:p>
          <a:p>
            <a:r>
              <a:t>2. Dinamismo Constante: As condições nunca são estáticas. O mercado muda, os juros oscilam, novas IAs surgem. Manter o equilíbrio exige movimento contínuo (equilíbrio dinâmico).</a:t>
            </a:r>
          </a:p>
          <a:p>
            <a:r>
              <a:t>3. Ciclos de Eventos: As trocas têm natureza cíclica. O produto sai -&gt; o dinheiro entra -&gt; novos insumos são comprados -&gt; novos salários são pagos. Se o ciclo se rompe em qualquer nó dessa rede (como mostra a figura ao lado), o sistema inteiro entra em pane.</a:t>
            </a:r>
          </a:p>
          <a:p>
            <a:r>
              <a:t>Tempo estimado: 1 minuto e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8: PRINCIPAIS TEÓRICOS]</a:t>
            </a:r>
          </a:p>
          <a:p>
            <a:r>
              <a:t>- É fundamental saber quem foram os pioneiros desta revolução:</a:t>
            </a:r>
          </a:p>
          <a:p>
            <a:r>
              <a:t>1. Ludwig von Bertalanffy: Um biólogo que percebeu que a física clássica não conseguia explicar a vida porque tratava tudo como sistemas fechados. Em 1950, publicou as bases da TGS, provando que um organismo ou uma organização precisam de trocas ambientais para se manterem vivos.</a:t>
            </a:r>
          </a:p>
          <a:p>
            <a:r>
              <a:t>2. C. West Churchman: Trouxe a TGS para o mundo dos negócios através da obra seminal 'The Systems Approach' (1968). Ensinou gestores a pensar em tradeoffs, objetivos globais e gestão de complexidade.</a:t>
            </a:r>
          </a:p>
          <a:p>
            <a:r>
              <a:t>3. Chester Barnard: Já em 1938, na obra clássica 'As Funções do Executivo', antecipou que empresas são sistemas cooperativos sociais. Sem a disposição das pessoas em colaborar em prol de um propósito comum, a estrutura desmorona.</a:t>
            </a:r>
          </a:p>
          <a:p>
            <a:r>
              <a:t>Tempo estimado: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9: SISTEMAS ABERTOS VS. FECHADOS]</a:t>
            </a:r>
          </a:p>
          <a:p>
            <a:r>
              <a:t>- Esta é uma das distinções centrais da disciplina:</a:t>
            </a:r>
          </a:p>
          <a:p>
            <a:r>
              <a:t>- No mundo físico inanimado, muitos sistemas são fechados: um relógio de corda funciona de forma determinística, sem trocar com o exterior. Se quebrar uma engrenagem, ele para.</a:t>
            </a:r>
          </a:p>
          <a:p>
            <a:r>
              <a:t>- Organizações humanas NUNCA são sistemas fechados. Quando uma empresa age como se fosse um sistema fechado (ignorando reclamações de clientes, tendências tecnológicas ou concorrentes), ela é punida pela entropia: definha e quebra.</a:t>
            </a:r>
          </a:p>
          <a:p>
            <a:r>
              <a:t>- As empresas mais bem-sucedidas do século XXI são sistemas abertos por excelência: capturam tendências no ar e ajustam sua proposta de valor em tempo real.</a:t>
            </a:r>
          </a:p>
          <a:p>
            <a:r>
              <a:t>Tempo estimado: 1 minuto e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10: ABORDAGEM SOCIOTÉCNICA]</a:t>
            </a:r>
          </a:p>
          <a:p>
            <a:r>
              <a:t>- Desenvolvida pelo Tavistock Institute de Londres (com Eric Trist e Fred Emery), a Abordagem Sociotécnica nasceu de um insight prático:</a:t>
            </a:r>
          </a:p>
          <a:p>
            <a:r>
              <a:t>- Muitas empresas compram os computadores mais caros, instalam robôs modernos ou implementam novas IAs, mas a produtividade desaba. Por quê?</a:t>
            </a:r>
          </a:p>
          <a:p>
            <a:r>
              <a:t>- Porque a organização é composta por DOIS subsistemas interligados:</a:t>
            </a:r>
          </a:p>
          <a:p>
            <a:r>
              <a:t>  1. O Técnico: Máquinas, fluxos, algoritmos, métodos de trabalho.</a:t>
            </a:r>
          </a:p>
          <a:p>
            <a:r>
              <a:t>  2. O Social: Pessoas, liderança, confiança, cultura e motivação.</a:t>
            </a:r>
          </a:p>
          <a:p>
            <a:r>
              <a:t>- Não existe tecnologia que compense uma equipe desmotivada ou uma liderança tóxica. O segredo da alta performance é a 'otimização conjunta': a tecnologia deve capacitar e empoderar o ser humano, e as pessoas devem estar preparadas para extrair o melhor das máquinas.</a:t>
            </a:r>
          </a:p>
          <a:p>
            <a:r>
              <a:t>Tempo estimado: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11: PROCESSO DECISÓRIO SISTÊMICO]</a:t>
            </a:r>
          </a:p>
          <a:p>
            <a:r>
              <a:t>- Como transformar a teoria em prática diária de gestão?</a:t>
            </a:r>
          </a:p>
          <a:p>
            <a:r>
              <a:t>- Três práticas indispensáveis:</a:t>
            </a:r>
          </a:p>
          <a:p>
            <a:r>
              <a:t>1. Mapeamento prévio de impactos: Antes de cortar custos ou alterar um software, o líder sistêmico pergunta: 'Quem será afetado? O atendimento ao cliente vai sofrer? O pós-venda vai travar?'. Evita-se o clássico 'remédio que mata o paciente'.</a:t>
            </a:r>
          </a:p>
          <a:p>
            <a:r>
              <a:t>2. Eliminação de silos: As reuniões não podem ser apenas de diretoria fechada. Criam-se equipes multidisciplinares e rituais de alinhamento entre áreas distintas.</a:t>
            </a:r>
          </a:p>
          <a:p>
            <a:r>
              <a:t>3. Alinhamento dinâmico: Metas internas precisam conversar com a realidade externa. Não adianta bater a meta de produzir 1 milhão de itens se o mercado mudou e não quer mais aquele modelo.</a:t>
            </a:r>
          </a:p>
          <a:p>
            <a:r>
              <a:t>Tempo estimado: 1 minuto e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12: CONCLUSÃO E SÍNTESE]</a:t>
            </a:r>
          </a:p>
          <a:p>
            <a:r>
              <a:t>- Chegamos à conclusão da nossa apresentação com esta reflexão fundamental:</a:t>
            </a:r>
          </a:p>
          <a:p>
            <a:r>
              <a:t>- 'A organização não é uma soma de partes isoladas, mas uma rede viva de interações contínuas.'</a:t>
            </a:r>
          </a:p>
          <a:p>
            <a:r>
              <a:t>- Para quem administra, lidera ou empreende no século XXI, a Teoria Sistêmica não é apenas uma teoria de livro: é uma lente de navegação para a sobrevivência e para a alta performance.</a:t>
            </a:r>
          </a:p>
          <a:p>
            <a:r>
              <a:t>- Líderes que pensam de forma sistêmica constroem organizações mais resilientes, empresas mais inovadoras e ambientes de trabalho mais cooperativos e humanos.</a:t>
            </a:r>
          </a:p>
          <a:p>
            <a:r>
              <a:t>- Muito obrigado pela atenção de todos! Estou à disposição para dúvidas, comentários e debate.</a:t>
            </a:r>
          </a:p>
          <a:p>
            <a:r>
              <a:t>Tempo estimado: 1 a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[ROTEIRO DE FALA - SLIDE 13: FONTES E REFERÊNCIAS]</a:t>
            </a:r>
          </a:p>
          <a:p>
            <a:r>
              <a:t>- Para aprofundamento, recomendamos as obras fundamentais de Bertalanffy, Churchman e Barnard, além das aplicações contemporâneas do MIT Sloan e estudos em sistemas sociotécnicos.</a:t>
            </a:r>
          </a:p>
          <a:p>
            <a:r>
              <a:t>- Os links e fontes visuais das ilustrações estão devidamente creditados e catalogados para consulta acadêmica.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ADMINISTRAÇÃO GERAL  •  ESTRUTURA ACADÊMICA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Teoria Sistêmica na</a:t>
            </a:r>
            <a:br/>
            <a:r>
              <a:t>Administração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Segoe UI"/>
              </a:defRPr>
            </a:pPr>
            <a:r>
              <a:t>Da visão fragmentada ao pensamento integrado: compreendendo as organizações como sistemas vivos e abertos.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5778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OBJETIVOS DE APRENDIZAGEM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Por que Estudar a Teoria Sistêmica?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103120"/>
            <a:ext cx="640080" cy="6400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👁️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Visão Holística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Segoe UI"/>
              </a:defRPr>
            </a:pPr>
            <a:r>
              <a:t>Compreensão total da organização sem isolamento de setores.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Ver o todo integrado ao invés de fragmentos desconexos. Elimina a miopia departamental.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2103120"/>
            <a:ext cx="640080" cy="6400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Interdependência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Segoe UI"/>
              </a:defRPr>
            </a:pPr>
            <a:r>
              <a:t>Avaliação precisa dos impactos de decisões intersetoriais.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663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Cada ação em vendas reverbera em produção, logística, RH e fluxo de caixa.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Adaptabilidade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Segoe UI"/>
              </a:defRPr>
            </a:pPr>
            <a:r>
              <a:t>Resposta rápida e contínua às transformações do mercado.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663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Capacidade dinâmica de sobreviver e prosperar em ambientes de alta incerteza.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1  •  RELAÇÃO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Abordagem Sistêmica na Administração Geral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2011680"/>
            <a:ext cx="2286000" cy="3657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B91C1C"/>
                </a:solidFill>
              </a:defRPr>
            </a:pPr>
            <a:r>
              <a:t>Abordagem Tradicional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Visão Mecanicista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400">
                <a:solidFill>
                  <a:srgbClr val="B91C1C"/>
                </a:solidFill>
              </a:defRPr>
            </a:pPr>
            <a:r>
              <a:t>✗  Foco exclusivo em tarefas internas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Atenção estrita aos postos de trabalho e eficiência de rotina isolada.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400">
                <a:solidFill>
                  <a:srgbClr val="B91C1C"/>
                </a:solidFill>
              </a:defRPr>
            </a:pPr>
            <a:r>
              <a:t>✗  Departamentos isolados (Silos)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Feudos corporativos onde as áreas não dialogam entre 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02920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400">
                <a:solidFill>
                  <a:srgbClr val="B91C1C"/>
                </a:solidFill>
              </a:defRPr>
            </a:pPr>
            <a:r>
              <a:t>✗  Organização vista como sistema fechado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Crença de que o ambiente externo é previsível ou ignorável.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2011680"/>
            <a:ext cx="2286000" cy="365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766E"/>
                </a:solidFill>
              </a:defRPr>
            </a:pPr>
            <a:r>
              <a:t>Abordagem Sistêmica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5603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Visão Integrada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9184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400">
                <a:solidFill>
                  <a:srgbClr val="0F766E"/>
                </a:solidFill>
              </a:defRPr>
            </a:pPr>
            <a:r>
              <a:t>✓  Integração total dos subsistemas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Processos transversais fluidos com cooperação intersetorial ativa.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16052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400">
                <a:solidFill>
                  <a:srgbClr val="0F766E"/>
                </a:solidFill>
              </a:defRPr>
            </a:pPr>
            <a:r>
              <a:t>✓  Interação constante com o ambiente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Monitoramento diário de concorrentes, clientes, leis e tecnologia.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400">
                <a:solidFill>
                  <a:srgbClr val="0F766E"/>
                </a:solidFill>
              </a:defRPr>
            </a:pPr>
            <a:r>
              <a:t>✓  Foco em objetivos globais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  O sucesso da empresa como um todo supera os ganhos isolados de uma área.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2  •  ASPECTOS BÁSICOS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 Fluxo Fundamental de um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231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03120"/>
            <a:ext cx="594360" cy="59436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Entradas (Inputs)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Insumos, dados e matérias-primas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1874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Recursos humanos, financeiros, informação e tecnologia recebidos do ambiente.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37360"/>
            <a:ext cx="24231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0" y="2103120"/>
            <a:ext cx="594360" cy="59436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26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Processamento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520440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Transformação operacional interna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80560"/>
            <a:ext cx="1874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Conversão produtiva, metodologias, linhas de montagem e tomada de decisão.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24231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2103120"/>
            <a:ext cx="594360" cy="59436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Saídas (Outputs)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Produtos, serviços e resultados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80560"/>
            <a:ext cx="1874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Entregas tangíveis, valor gerado, rentabilidade e impactos no mercado.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66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737360"/>
            <a:ext cx="2423160" cy="4114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0" y="210312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9260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520440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Retroalimentação e ajuste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4480560"/>
            <a:ext cx="1874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Avaliações, métricas, satisfação do cliente e correções de rumo em tempo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3  •  ESTRUTURA DE NÍVEIS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Hierarquização de Sistemas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9728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Supersistema (Suprasistema)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77724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Ambiente externo abrangente: mercado consumidor, concorrência, marcos regulatórios, avanços tecnológicos e contexto socioeconômico global.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148840"/>
            <a:ext cx="1554480" cy="411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369A1"/>
                </a:solidFill>
              </a:defRPr>
            </a:pPr>
            <a:r>
              <a:t>Nível Macro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109728" cy="12801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77724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 organização ou empresa considerada em sua totalidade focal: cultura corporativa, governança, identidade de marca e estratégia integrada.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3657600"/>
            <a:ext cx="1554480" cy="4114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F766E"/>
                </a:solidFill>
              </a:defRPr>
            </a:pPr>
            <a:r>
              <a:t>Nível Mapeado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09728" cy="12801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Subsistemas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49240"/>
            <a:ext cx="777240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Departamentos, divisões funcionais, setores operacionais e equipes multidisciplinares internas responsáveis por etapas específicas do trabalho.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5166360"/>
            <a:ext cx="1554480" cy="4114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0369A1"/>
                </a:solidFill>
              </a:defRPr>
            </a:pPr>
            <a:r>
              <a:t>Nível Micro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4  •  PRINCÍPIOS PRÁTICOS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Aplicação dos Conceitos Sistêmicos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057400"/>
            <a:ext cx="502920" cy="50292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Segoe UI"/>
              </a:defRPr>
            </a:pPr>
            <a:r>
              <a:t>Sinergia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5915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O todo é maior que a soma das partes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Trabalho conjunto cooperativo com resultado substancialmente superior à mera soma individual dos esforços (1 + 1 = 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⚖️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Homeostase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5915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Equilíbrio dinâmico e autorregulação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Capacidade do sistema de resistir a perturbações externas e restaurar a estabilidade operacional através de autocorreção contínua.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389120"/>
            <a:ext cx="502920" cy="50292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43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Segoe UI"/>
              </a:defRPr>
            </a:pPr>
            <a:r>
              <a:t>Entropia Negativa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9087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Importação ativa de energia vital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2064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Tendência natural de qualquer sistema fechado é o caos e a morte (entropia). Sistemas abertos importam energia para reverter o desgaste.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6908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4389120"/>
            <a:ext cx="502920" cy="50292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43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Equifinalidade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69087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Segoe UI"/>
              </a:defRPr>
            </a:pPr>
            <a:r>
              <a:t>Múltiplos caminhos, mesmo resultado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120640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Capacidade de alcançar o mesmo objetivo final a partir de diferentes condições iniciais e por variadas rotas estratégicas.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5  •  PROPRIEDADES ABERTAS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Organizações como Sistemas Abertos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9659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0195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Fronteiras Permeáveis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40280"/>
            <a:ext cx="3474720" cy="685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Troca contínua de dados, clientes e recursos com o ecossistema externo.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 empresa não tem muros impenetráveis: absorve demandas da sociedade e responde com inovação e valor.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429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36499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Dinamismo Constante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3474720" cy="685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Reorganização flexível para sustentação do equilíbrio adaptativo.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Frente a novas regulamentações ou concorrentes agressivos, o arranjo interno se adapta sem colapsar.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303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8920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82803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Ciclos de Eventos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166360"/>
            <a:ext cx="3474720" cy="6858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Reciclagem e reinvestimento contínuo para garantir longevidade.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 receita gerada nas vendas é reinvestida em insumos, pesquisa e salários, retroalimentando o ciclo.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0292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4663440" cy="28436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0" y="55778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Rede de Interconexões: Nós interdependentes e fluxo contínuo de estímulos.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6  •  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Principais Teóricos do Pensamento Sistêmico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59436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Ludwig von Bertalanffy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Criador da TGS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Biólogo austríaco que concebeu a Teoria Geral dos Sistemas (década de 1950). Propôs que princípios universais regem sistemas em todos os ramos da ciência, da biologia à administração.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440680"/>
            <a:ext cx="265176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★ Pioneirismo Conceitual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103120"/>
            <a:ext cx="594360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C. West Churchman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747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Pioneiro da Gestão Sistêmica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862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Filósofo e pesquisador operacional norte-americano. Foi quem primeiro aplicou com rigor o pensamento sistêmico no planejamento estratégico corporativo e na tomada de decisão gerencial.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440680"/>
            <a:ext cx="265176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★ Aplicação Gerencial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2103120"/>
            <a:ext cx="59436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Chester Barnard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747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Sistemas Cooperativos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862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Executivo e teórico que conceituou a organização como um 'sistema cooperativo aberto'. Demonstrou que a sobrevivência da firma depende do equilíbrio entre contribuições e incentivos das pessoas.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440680"/>
            <a:ext cx="265176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★ Dimensão Humana &amp; Aberta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7  •  CLASSIFICAÇÃO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Sistemas Abertos vs. Sistemas Fechados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Sistemas Fechados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 Sem intercâmbio com o meio externo.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 Comportamento puramente determinístico, mecânico e previsível.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 Sujeito à entropia positiva máxima: desgaste, obsolescência e colapso inevitável.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•  Não reage nem se adapta a mudanças do ambiente.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029200"/>
            <a:ext cx="420624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64748B"/>
                </a:solidFill>
              </a:defRPr>
            </a:pPr>
            <a:r>
              <a:t>Exemplo Prático: Máquinas isoladas, circuitos fechados, motores industriais sem sensor externo.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Sistemas Abertos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43200"/>
            <a:ext cx="4206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0B981"/>
                </a:solidFill>
              </a:defRPr>
            </a:pPr>
            <a:r>
              <a:t>✓  Troca constante e vital de energia, insumos, dados e matérias.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✓  Alta capacidade adaptativa e flexibilidade frente a incertezas.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✓  Possuem homeostase dinâmica e entropia negativa (reorganização constante).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✓  Atingem equifinalidade: atingem metas por rotas diversas.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5029200"/>
            <a:ext cx="4206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10B981"/>
                </a:solidFill>
              </a:defRPr>
            </a:pPr>
            <a:r>
              <a:t>Exemplo Prático: Empresas, ecossistemas digitais, startups, seres humanos e sociedades.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TÓPICO 8  •  ABORDAGEM SOCIOTÉCNICA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 Abordagem Sociotécnica</a:t>
            </a:r>
          </a:p>
        </p:txBody>
      </p:sp>
      <p:pic>
        <p:nvPicPr>
          <p:cNvPr id="4" name="Picture 3" descr="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Indústria 4.0 &amp; Automação: Tecnologia avançada integrada ao fator humano.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9488"/>
                </a:solidFill>
                <a:latin typeface="Segoe UI"/>
              </a:defRPr>
            </a:pPr>
            <a:r>
              <a:t>Subsistema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Tecnologia, equipamentos, infraestrutura física, softwares, linhas de produção e processos operacionais padronizados.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0B981"/>
                </a:solidFill>
                <a:latin typeface="Segoe UI"/>
              </a:defRPr>
            </a:pPr>
            <a:r>
              <a:t>Subsistema 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3891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Pessoas, relações interpessoais, liderança, cultura organizacional, motivação humana, valores e competências.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715000"/>
            <a:ext cx="5303520" cy="4114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Princípio da Otimização Conjunta: O sucesso exige equilibrar técnica e pessoas.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SÍNTESE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Gestão Sistêmica no Processo Decisório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4864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0574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0195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Mapeamento Prévio de Impactos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356616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Avaliação das consequências em cascata antes de implementar qualquer decisão estratégica (prevenção do efeito dominó).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4864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34747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192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Eliminação de Silos Operacionais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57600"/>
            <a:ext cx="356616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Derrubada de barreiras comunicacionais e cooperação horizontal fluida entre todos os departamentos.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4864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48920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3659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Alinhamento Dinâmico com o Ambiente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74920"/>
            <a:ext cx="3566160" cy="5943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Sincronização ágil entre os objetivos internos da empresa e as demandas voláteis dos clientes e do mercado.</a:t>
            </a:r>
          </a:p>
        </p:txBody>
      </p:sp>
      <p:pic>
        <p:nvPicPr>
          <p:cNvPr id="16" name="Picture 15" descr="cub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846320" cy="27260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5394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748B"/>
                </a:solidFill>
              </a:defRPr>
            </a:pPr>
            <a:r>
              <a:t>Tomada de Decisão Sistêmica: Conectando lideranças e eliminando silos.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8190" y="137160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Visão Sistêmica como Vantagem Competitiva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383280"/>
            <a:ext cx="8168335" cy="1371600"/>
          </a:xfrm>
          <a:prstGeom prst="roundRect">
            <a:avLst/>
          </a:prstGeom>
          <a:solidFill>
            <a:srgbClr val="141F3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i="1">
                <a:solidFill>
                  <a:srgbClr val="10B981"/>
                </a:solidFill>
                <a:latin typeface="Segoe UI"/>
              </a:defRPr>
            </a:pPr>
            <a:r>
              <a:t>“A organização não é uma soma de partes isoladas,</a:t>
            </a:r>
            <a:br/>
            <a:r>
              <a:t>mas uma rede viva de interações contínuas.”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</a:defRPr>
            </a:pPr>
            <a:r>
              <a:t>Pensamento Holístico   •   Integração Tecnológica &amp; Humana   •   Adaptabilidade Contínua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FONTES &amp; LEITURAS RECOMENDADAS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Fundamentação Bibliográfica e Fontes Visuais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Segoe UI"/>
              </a:defRPr>
            </a:pPr>
            <a:r>
              <a:t>📚 Obras Clássicas de 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 BERTALANFFY, Ludwig von. Teoria Geral dos Sistemas: Fundamentos, Desenvolvimento e Aplicações. Petrópolis: Vozes, 1975.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 CHURCHMAN, C. West. The Systems Approach. New York: Dell Publishing, 1968.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 BARNARD, Chester. As Funções do Executivo. São Paulo: Atlas, 1979.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 KATZ, Daniel; KAHN, Robert L. Psicologia Social das Organizações. São Paulo: Atlas, 1978.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 CHIAVENATO, Idalberto. Introdução à Teoria Geral da Administração. 10. ed. Rio de Janeiro: GEN Atlas, 2020.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Segoe UI"/>
              </a:defRPr>
            </a:pPr>
            <a:r>
              <a:t>🌐 Estudos e Fontes Visuais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🔗 MIT Sloan Management Review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What is Systems Thinking in Business?</a:t>
            </a:r>
          </a:p>
          <a:p>
            <a:pPr>
              <a:spcAft>
                <a:spcPts val="800"/>
              </a:spcAft>
              <a:defRPr sz="1000" i="1">
                <a:solidFill>
                  <a:srgbClr val="0D9488"/>
                </a:solidFill>
              </a:defRPr>
            </a:pPr>
            <a:r>
              <a:t>   Fonte: https://executive.mit.edu/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🔗 Frontiers in Psychology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Systems Theory and Behavioral Interaction Networks</a:t>
            </a:r>
          </a:p>
          <a:p>
            <a:pPr>
              <a:spcAft>
                <a:spcPts val="800"/>
              </a:spcAft>
              <a:defRPr sz="1000" i="1">
                <a:solidFill>
                  <a:srgbClr val="0D9488"/>
                </a:solidFill>
              </a:defRPr>
            </a:pPr>
            <a:r>
              <a:t>   Fonte: https://www.frontiersin.org/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🔗 NVIDIA Omniverse Manufacturing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Digital Twins &amp; Cyber-Physical Operational Systems</a:t>
            </a:r>
          </a:p>
          <a:p>
            <a:pPr>
              <a:spcAft>
                <a:spcPts val="800"/>
              </a:spcAft>
              <a:defRPr sz="1000" i="1">
                <a:solidFill>
                  <a:srgbClr val="0D9488"/>
                </a:solidFill>
              </a:defRPr>
            </a:pPr>
            <a:r>
              <a:t>   Fonte: https://nvidianews.nvidia.com/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🔗 Tavistock Institute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Socio-Technical Systems Design and Organizational Work</a:t>
            </a:r>
          </a:p>
          <a:p>
            <a:pPr>
              <a:spcAft>
                <a:spcPts val="800"/>
              </a:spcAft>
              <a:defRPr sz="1000" i="1">
                <a:solidFill>
                  <a:srgbClr val="0D9488"/>
                </a:solidFill>
              </a:defRPr>
            </a:pPr>
            <a:r>
              <a:t>   Fonte: Historical Research Papers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